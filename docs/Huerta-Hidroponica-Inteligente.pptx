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unces"/>
      <p:regular r:id="rId201314"/>
    </p:embeddedFont>
    <p:embeddedFont>
      <p:font typeface="Fraunces SemiBold"/>
      <p:regular r:id="rId201315"/>
    </p:embeddedFont>
    <p:embeddedFont>
      <p:font typeface="Fraunces Bold"/>
      <p:regular r:id="rId201316"/>
    </p:embeddedFont>
    <p:embeddedFont>
      <p:font typeface="Fraunces ExtraBold"/>
      <p:regular r:id="rId201317"/>
    </p:embeddedFont>
    <p:embeddedFont>
      <p:font typeface="Fraunces Black"/>
      <p:regular r:id="rId201318"/>
    </p:embeddedFont>
    <p:embeddedFont>
      <p:font typeface="Nobile"/>
      <p:regular r:id="rId201319"/>
    </p:embeddedFont>
    <p:embeddedFont>
      <p:font typeface="Nobile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788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Huerta Hidropónica Inteligente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1265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Proyecto de Aprendizaje Basado en Proyectos — ABP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Integración de hidroponía, diseño 3D, electrónica, programación e Internet de las Cosas.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345160"/>
            <a:ext cx="1972915" cy="1686818"/>
          </a:xfrm>
          <a:prstGeom prst="roundRect">
            <a:avLst>
              <a:gd name="adj" fmla="val 10085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3534172"/>
            <a:ext cx="15949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🏫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Institución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4238129"/>
            <a:ext cx="15949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[Nombre de la institución]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823397" y="3345160"/>
            <a:ext cx="1972915" cy="1686818"/>
          </a:xfrm>
          <a:prstGeom prst="roundRect">
            <a:avLst>
              <a:gd name="adj" fmla="val 10085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3012404" y="3534172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Cursos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012404" y="3942854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[Cursos / Años]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985320" y="3345160"/>
            <a:ext cx="1972915" cy="1686818"/>
          </a:xfrm>
          <a:prstGeom prst="roundRect">
            <a:avLst>
              <a:gd name="adj" fmla="val 10085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5174327" y="3534172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👩‍🏫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Docentes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174327" y="3942854"/>
            <a:ext cx="15949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[Nombres de docentes]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475" y="5220990"/>
            <a:ext cx="6296760" cy="108912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6" name="Text 13"/>
          <p:cNvSpPr/>
          <p:nvPr/>
        </p:nvSpPr>
        <p:spPr>
          <a:xfrm>
            <a:off x="850482" y="5410002"/>
            <a:ext cx="59187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Ciclo lectivo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0482" y="5818684"/>
            <a:ext cx="59187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[Año]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806053"/>
            <a:ext cx="939479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862707"/>
            <a:ext cx="13222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¿QUÉ ES?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16879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¿En qué consiste el proyecto?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539107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Huerta Hidropónica Inteligente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es un proyecto interdisciplinario que propone cultivar plantas sin suelo, aprovechando una solución de agua y nutrientes que circula por una estructura de caños de PVC con sensores, actuadores, un microcontrolador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90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ESP32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y una aplicación web progresiva.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93779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Objetivos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422080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Comprender los principios básicos de la hidroponía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Aplicar conocimientos científicos y tecnológicos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Promover el trabajo colaborativo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Utilizar responsablemente el agua y la energía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Resolver una necesidad real con una solución sustentable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9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Aprender Haciendo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1869281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"¿Cómo podemos diseñar una huerta hidropónica inteligente, sustentable y controlada mediante Internet?"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65665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5969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El ABP permite que los estudiantes investiguen, diseñen, construyan, programen, prueben y mejoren una solución tecnológica concreta.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438029"/>
            <a:ext cx="189007" cy="1890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3710285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385554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Investigación y planificación</a:t>
            </a:r>
            <a:endParaRPr lang="en-US" sz="1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438029"/>
            <a:ext cx="189007" cy="1890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7359" y="3710285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1" name="Text 7"/>
          <p:cNvSpPr/>
          <p:nvPr/>
        </p:nvSpPr>
        <p:spPr>
          <a:xfrm>
            <a:off x="4347359" y="385554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Diseño de la estructura</a:t>
            </a:r>
            <a:endParaRPr lang="en-US" sz="1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438029"/>
            <a:ext cx="189007" cy="1890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33244" y="3710285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9"/>
          <p:cNvSpPr/>
          <p:nvPr/>
        </p:nvSpPr>
        <p:spPr>
          <a:xfrm>
            <a:off x="8033244" y="3855541"/>
            <a:ext cx="3496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Ensamble en PVC e impresión 3D</a:t>
            </a:r>
            <a:endParaRPr lang="en-US" sz="1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800402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1475" y="5072658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1"/>
          <p:cNvSpPr/>
          <p:nvPr/>
        </p:nvSpPr>
        <p:spPr>
          <a:xfrm>
            <a:off x="661475" y="521791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Integración electrónica y firmware</a:t>
            </a:r>
            <a:endParaRPr lang="en-US" sz="1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800402"/>
            <a:ext cx="189007" cy="18901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190301" y="5072658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0" name="Text 13"/>
          <p:cNvSpPr/>
          <p:nvPr/>
        </p:nvSpPr>
        <p:spPr>
          <a:xfrm>
            <a:off x="6190301" y="521791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PWA IoT · Pruebas y presentación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661475" y="58674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Articulación disciplinaria: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Ciencias naturales · Electrónica · Informática · Diseño · Matemática · Tecnología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26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Construcción de la Estructura Hidropónica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2809"/>
            <a:ext cx="3555812" cy="3555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5421" y="1402358"/>
            <a:ext cx="6931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Proceso de ensamble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605421" y="1792684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664058" y="1821954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87116" y="1846461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Definir dimensiones y niveles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05421" y="2404070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664058" y="2433340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87116" y="2457847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Medir, marcar y cortar caños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05421" y="3015456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664058" y="304472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87116" y="3069233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Perforar alojamientos para plantas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05421" y="3626842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4058" y="3656112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87116" y="3680619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Unir con codos, conexiones y soportes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05421" y="4238228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18" name="Text 15"/>
          <p:cNvSpPr/>
          <p:nvPr/>
        </p:nvSpPr>
        <p:spPr>
          <a:xfrm>
            <a:off x="4664058" y="426749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087116" y="4292005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Instalar depósito y circuito de retorno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05421" y="4849614"/>
            <a:ext cx="352119" cy="352127"/>
          </a:xfrm>
          <a:prstGeom prst="roundRect">
            <a:avLst>
              <a:gd name="adj" fmla="val 40009"/>
            </a:avLst>
          </a:prstGeom>
          <a:solidFill>
            <a:srgbClr val="E8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4664058" y="4878884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087116" y="4903391"/>
            <a:ext cx="64493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Verificar pendientes y estanqueidad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605421" y="5347494"/>
            <a:ext cx="6931050" cy="775494"/>
          </a:xfrm>
          <a:prstGeom prst="roundRect">
            <a:avLst>
              <a:gd name="adj" fmla="val 18166"/>
            </a:avLst>
          </a:prstGeom>
          <a:solidFill>
            <a:srgbClr val="FCF2B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85" y="5537994"/>
            <a:ext cx="195654" cy="1564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14003" y="5503168"/>
            <a:ext cx="6266003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⚠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Seguridad: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El corte y perforación deben realizarse con herramientas adecuadas, EPP y supervisión docente.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270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¿Cómo Funciona el Circuito Hidropónico?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74849"/>
            <a:ext cx="1086874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Una bomba impulsa la solución nutritiva desde el depósito hacia los caños de cultivo. El agua circula por las raíces y regresa al depósito para ser reutilizada, sin entrar en contacto con componentes eléctricos.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674614"/>
            <a:ext cx="8452035" cy="3868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41606" y="462434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Retorno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41783" y="447150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Caños con raíces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352827" y="462434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Bomba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320397" y="462434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Depósito</a:t>
            </a:r>
            <a:endParaRPr lang="en-US" sz="1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57552"/>
            <a:ext cx="346959" cy="346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5828" y="5657552"/>
            <a:ext cx="306360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Reutilización del agua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35828" y="5935563"/>
            <a:ext cx="306360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circuito cerrado minimiza el consumo hídrico respecto al cultivo tradicional.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6821" y="5657552"/>
            <a:ext cx="346959" cy="3469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1174" y="5657552"/>
            <a:ext cx="306360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Nutrientes controlados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01174" y="5935563"/>
            <a:ext cx="306360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solución se dosifica con precisión para optimizar el crecimiento de cada cultivo.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2168" y="5657552"/>
            <a:ext cx="346959" cy="3469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66521" y="5657552"/>
            <a:ext cx="306360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Riego automatizado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466521" y="5935563"/>
            <a:ext cx="306360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 horarios de bomba se programan y ajustan desde el firmware o la PWA.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6323"/>
            <a:ext cx="1840859" cy="255786"/>
          </a:xfrm>
          <a:prstGeom prst="roundRect">
            <a:avLst>
              <a:gd name="adj" fmla="val 47387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796826"/>
            <a:ext cx="2248439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DISEÑO E IMPRESIÓN 3D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62038"/>
            <a:ext cx="6920831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Protección de la Electrónica de Control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2264073"/>
            <a:ext cx="692083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proteger y organizar los componentes electrónicos se diseña un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gabinete personalizado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mediante software de modelado 3D, garantizando separación entre la electrónica y la humedad del entorno.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177778"/>
            <a:ext cx="692083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Consideraciones de diseño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3590727"/>
            <a:ext cx="6920831" cy="148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Ubicación segura del ESP32 y módulos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Orificios para cables y conectores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Soportes internos para fijar placas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Ventilación y tapa desmontable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Indicadores luminosos e identificación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5223173"/>
            <a:ext cx="692083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Proceso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5636121"/>
            <a:ext cx="69208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Medición → Modelado 3D → Prototipado → Impresión → Prueba de encastre → Ajustes finales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411" y="1660327"/>
            <a:ext cx="3537060" cy="3537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138" y="477441"/>
            <a:ext cx="4427228" cy="5903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9948"/>
            <a:ext cx="6296860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El ESP32 como Cerebro del Sistema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61475" y="1610618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ESP32 recibe información de los sensores, procesa los datos y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controla automáticamente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los dispositivos conectados a la huerta vía Wi-Fi.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1475" y="2144018"/>
            <a:ext cx="3093067" cy="2007989"/>
          </a:xfrm>
          <a:prstGeom prst="roundRect">
            <a:avLst>
              <a:gd name="adj" fmla="val 6486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806132" y="2288679"/>
            <a:ext cx="280375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🔌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Hardware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6132" y="2587526"/>
            <a:ext cx="2803753" cy="14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Microcontrolador ESP32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Sensores de cultivo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Módulo de relé / etapa de potencia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Bomba de agua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Fuente de alimentación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Indicadores de estado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65267" y="2144018"/>
            <a:ext cx="3093067" cy="2007989"/>
          </a:xfrm>
          <a:prstGeom prst="roundRect">
            <a:avLst>
              <a:gd name="adj" fmla="val 6486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4009925" y="2288679"/>
            <a:ext cx="280375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Funciones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09925" y="2587526"/>
            <a:ext cx="2803753" cy="117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Leer variables del cultivo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Encender y apagar la bomba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Detectar condiciones fuera de rango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Enviar datos a la plataforma IoT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Recibir órdenes remotas autorizadas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4262735"/>
            <a:ext cx="6296860" cy="1521817"/>
          </a:xfrm>
          <a:prstGeom prst="roundRect">
            <a:avLst>
              <a:gd name="adj" fmla="val 8559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806132" y="4407396"/>
            <a:ext cx="600754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Conectividad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6132" y="4706243"/>
            <a:ext cx="6007545" cy="933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Wi-Fi integrado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Protocolo IoT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Comunicación con PWA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Funcionamiento local sin Internet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1475" y="5909171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selección final de sensores y rangos de operación dependerá del cultivo y de los componentes disponibles.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Programación y Automatización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1058" y="2743200"/>
            <a:ext cx="791051" cy="147935"/>
          </a:xfrm>
          <a:prstGeom prst="roundRect">
            <a:avLst>
              <a:gd name="adj" fmla="val 47435"/>
            </a:avLst>
          </a:prstGeom>
          <a:solidFill>
            <a:srgbClr val="DDEEE0"/>
          </a:solidFill>
          <a:ln/>
        </p:spPr>
      </p:sp>
      <p:sp>
        <p:nvSpPr>
          <p:cNvPr id="5" name="Text 2"/>
          <p:cNvSpPr/>
          <p:nvPr/>
        </p:nvSpPr>
        <p:spPr>
          <a:xfrm>
            <a:off x="6279497" y="2772370"/>
            <a:ext cx="1283759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FIRMWARE ESP32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221058" y="291117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Tareas principales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113683"/>
            <a:ext cx="5315512" cy="1067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Inicializar sensores y salidas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Conectarse a la red Wi-Fi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Obtener mediciones periódicas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Validar los datos recibidos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Ejecutar reglas de automatización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Controlar la bomba de forma segura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Enviar datos a la plataforma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Gestionar fallos de conexión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221058" y="4237633"/>
            <a:ext cx="5315512" cy="256977"/>
          </a:xfrm>
          <a:prstGeom prst="roundRect">
            <a:avLst>
              <a:gd name="adj" fmla="val 34134"/>
            </a:avLst>
          </a:prstGeom>
          <a:solidFill>
            <a:srgbClr val="DDEE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4312146"/>
            <a:ext cx="121738" cy="974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658" y="4307086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sistema continúa funcionando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localmente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ante una pérdida temporal de Internet.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5665"/>
            <a:ext cx="835500" cy="273645"/>
          </a:xfrm>
          <a:prstGeom prst="roundRect">
            <a:avLst>
              <a:gd name="adj" fmla="val 47402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769640"/>
            <a:ext cx="122899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PWA IOT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57970"/>
            <a:ext cx="691081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 Huerta Conectada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792684"/>
            <a:ext cx="691081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PWA IoT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es una aplicación web instalable que permite consultar el estado de la huerta desde cualquier computadora, tablet o teléfono celular, con acceso por usuarios y permisos.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2808784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Funciones propuestas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3261916"/>
            <a:ext cx="6910810" cy="301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Mediciones en tiempo real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Historial con gráficos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Estado de conexión del ESP32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Indicación de bomba encendida/apagada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manual autorizado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Alertas ante valores anormales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Configuración de parámetros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de eventos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Diseño adaptable a móviles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8163" y="1669752"/>
            <a:ext cx="3518308" cy="3518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115" y="481409"/>
            <a:ext cx="4421275" cy="5895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4116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Tecnología Aplicada a una Producción Sustentable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665288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Huerta Hidropónica Inteligente integra conocimientos de distintas áreas para construir una solución real, colaborativa y escalable.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2233216"/>
            <a:ext cx="6296860" cy="3459262"/>
          </a:xfrm>
          <a:prstGeom prst="roundRect">
            <a:avLst>
              <a:gd name="adj" fmla="val 3919"/>
            </a:avLst>
          </a:prstGeom>
          <a:solidFill>
            <a:srgbClr val="E8F3E8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2233216"/>
            <a:ext cx="3148430" cy="2117328"/>
          </a:xfrm>
          <a:custGeom>
            <a:avLst/>
            <a:gdLst/>
            <a:ahLst/>
            <a:cxnLst/>
            <a:rect l="l" t="t" r="r" b="b"/>
            <a:pathLst>
              <a:path w="3148430" h="2117328">
                <a:moveTo>
                  <a:pt x="112968" y="0"/>
                </a:moveTo>
                <a:lnTo>
                  <a:pt x="3148430" y="0"/>
                </a:lnTo>
                <a:lnTo>
                  <a:pt x="3148430" y="2117328"/>
                </a:lnTo>
                <a:lnTo>
                  <a:pt x="0" y="2117328"/>
                </a:lnTo>
                <a:lnTo>
                  <a:pt x="0" y="112971"/>
                </a:lnTo>
                <a:arcTo hR="112971" wR="112968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812085" y="2383830"/>
            <a:ext cx="284720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Resultados esperados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2085" y="2691110"/>
            <a:ext cx="2847209" cy="150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Estructura hidropónica funcional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Gabinete 3D diseñado e impreso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basado en ESP32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PWA IoT operativa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Uso eficiente del agua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de datos del cultivo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09905" y="2233216"/>
            <a:ext cx="3148430" cy="2117328"/>
          </a:xfrm>
          <a:custGeom>
            <a:avLst/>
            <a:gdLst/>
            <a:ahLst/>
            <a:cxnLst/>
            <a:rect l="l" t="t" r="r" b="b"/>
            <a:pathLst>
              <a:path w="3148430" h="2117328">
                <a:moveTo>
                  <a:pt x="0" y="0"/>
                </a:moveTo>
                <a:lnTo>
                  <a:pt x="3035462" y="0"/>
                </a:lnTo>
                <a:arcTo hR="112971" wR="112968" stAng="16200000" swAng="5400000"/>
                <a:lnTo>
                  <a:pt x="3148430" y="2117328"/>
                </a:lnTo>
                <a:lnTo>
                  <a:pt x="0" y="2117328"/>
                </a:lnTo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233216"/>
            <a:ext cx="19050" cy="2117328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2" name="Text 9"/>
          <p:cNvSpPr/>
          <p:nvPr/>
        </p:nvSpPr>
        <p:spPr>
          <a:xfrm>
            <a:off x="3960515" y="2383830"/>
            <a:ext cx="284720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Aprendizajes logrados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960515" y="2691110"/>
            <a:ext cx="2847209" cy="150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Trabajo en equipo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Investigación y experimentación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Diseño y fabricación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Programación y electrónica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Resolución de problemas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Conciencia ambiental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350544"/>
            <a:ext cx="6296860" cy="1341934"/>
          </a:xfrm>
          <a:custGeom>
            <a:avLst/>
            <a:gdLst/>
            <a:ahLst/>
            <a:cxnLst/>
            <a:rect l="l" t="t" r="r" b="b"/>
            <a:pathLst>
              <a:path w="6296860" h="1341934">
                <a:moveTo>
                  <a:pt x="0" y="0"/>
                </a:moveTo>
                <a:lnTo>
                  <a:pt x="6296860" y="0"/>
                </a:lnTo>
                <a:lnTo>
                  <a:pt x="6296860" y="1228963"/>
                </a:lnTo>
                <a:arcTo hR="112971" wR="112968" stAng="0" swAng="5400000"/>
                <a:lnTo>
                  <a:pt x="112968" y="1341934"/>
                </a:lnTo>
                <a:arcTo hR="112971" wR="11296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4350544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6" name="Text 13"/>
          <p:cNvSpPr/>
          <p:nvPr/>
        </p:nvSpPr>
        <p:spPr>
          <a:xfrm>
            <a:off x="812085" y="4501158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📸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Evidencias del proyecto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2085" y="4808438"/>
            <a:ext cx="599563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[Fotografías reales del proyecto]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[Conclusiones de estudiantes]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[Código QR de acceso a PWA IoT]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87390" y="5962352"/>
            <a:ext cx="668052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"Cultivamos plantas, conocimientos y soluciones para un futuro más sustentable."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1475" y="5827415"/>
            <a:ext cx="19050" cy="48637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2026-09-06T19:19:50Z</dcterms:created>
  <dcterms:modified xsi:type="dcterms:W3CDTF">2026-09-06T19:19:50Z</dcterms:modified>
</cp:coreProperties>
</file>